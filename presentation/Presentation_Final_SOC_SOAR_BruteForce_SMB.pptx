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00BFFF"/>
                </a:solidFill>
                <a:latin typeface="Aptos"/>
              </a:rPr>
              <a:t>RAPPORT DE PROJET • CYBERSÉCURITÉ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58368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SOC /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6766560" cy="1143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Détection et automatisation de la réponse
à une attaque Brute Force SMB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65836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A6B7CA"/>
                </a:solidFill>
                <a:latin typeface="Aptos"/>
              </a:rPr>
              <a:t>Splunk Enterprise  •  Shuffle SOAR  •  VirusTotal  •  Discord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78992"/>
            <a:ext cx="3337560" cy="41605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078992"/>
            <a:ext cx="45720" cy="41605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216151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SCÉNARIO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1609343"/>
            <a:ext cx="30175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4625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2130552"/>
            <a:ext cx="3017520" cy="2971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Windows Event ID 4625
Logon Type 3
Détection SIEM → décision → enrichissement →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80760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A6B7CA"/>
                </a:solidFill>
                <a:latin typeface="Aptos"/>
              </a:rPr>
              <a:t>Toualy ZUNON  |  SOC / Blue Team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01 •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Objectif : automatiser une réponse SOC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Transformer une activité SMB anormale en alerte exploitable et routée automatiquement.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9000" cy="25146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45720" cy="25146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979FF"/>
                </a:solidFill>
                <a:latin typeface="Aptos"/>
              </a:rPr>
              <a:t>DÉTECTER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79192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1 429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310896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Collecter les échecs Windows 4625 et isoler un volume anormal par 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148840"/>
            <a:ext cx="3429000" cy="25146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148840"/>
            <a:ext cx="45720" cy="251460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DÉCIDER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79192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2 branches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200400"/>
            <a:ext cx="310896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Identifier si l’adresse source est privée ou publique avant enrichissement.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148840"/>
            <a:ext cx="3429000" cy="25146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148840"/>
            <a:ext cx="45720" cy="251460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RÉPONDRE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679192"/>
            <a:ext cx="31089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SOAR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3200400"/>
            <a:ext cx="3108960" cy="1325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Enrichir les IP publiques avec VirusTotal et notifier Discord.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Le projet ne s’arrête pas à la détection : il démontre la chaîne détection → triage → automatisation → visibilité.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02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Architecture du laboratoire SOC /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Trois machines de lab + services SaaS pour l’automatisation et l’enrichissement.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508760" cy="82296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1417319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Kali Linux
Simulation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194560" y="2587752"/>
            <a:ext cx="457200" cy="228600"/>
          </a:xfrm>
          <a:prstGeom prst="chevron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2331720"/>
            <a:ext cx="1508760" cy="82296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FF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496312"/>
            <a:ext cx="1417319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Windows
Event 4625</a:t>
            </a:r>
          </a:p>
        </p:txBody>
      </p:sp>
      <p:sp>
        <p:nvSpPr>
          <p:cNvPr id="12" name="Chevron 11"/>
          <p:cNvSpPr/>
          <p:nvPr/>
        </p:nvSpPr>
        <p:spPr>
          <a:xfrm>
            <a:off x="4343400" y="2587752"/>
            <a:ext cx="457200" cy="228600"/>
          </a:xfrm>
          <a:prstGeom prst="chevron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2331720"/>
            <a:ext cx="1508760" cy="82296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496312"/>
            <a:ext cx="1417319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Splunk
SIEM</a:t>
            </a:r>
          </a:p>
        </p:txBody>
      </p:sp>
      <p:sp>
        <p:nvSpPr>
          <p:cNvPr id="15" name="Chevron 14"/>
          <p:cNvSpPr/>
          <p:nvPr/>
        </p:nvSpPr>
        <p:spPr>
          <a:xfrm>
            <a:off x="6492240" y="2587752"/>
            <a:ext cx="457200" cy="228600"/>
          </a:xfrm>
          <a:prstGeom prst="chevron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2331720"/>
            <a:ext cx="1508760" cy="82296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496312"/>
            <a:ext cx="1417319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Shuffle
SOAR</a:t>
            </a:r>
          </a:p>
        </p:txBody>
      </p:sp>
      <p:sp>
        <p:nvSpPr>
          <p:cNvPr id="18" name="Chevron 17"/>
          <p:cNvSpPr/>
          <p:nvPr/>
        </p:nvSpPr>
        <p:spPr>
          <a:xfrm>
            <a:off x="8641080" y="2103120"/>
            <a:ext cx="457200" cy="228600"/>
          </a:xfrm>
          <a:prstGeom prst="chevron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783080"/>
            <a:ext cx="1828800" cy="73152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2F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47672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Discord
IP privée</a:t>
            </a:r>
          </a:p>
        </p:txBody>
      </p:sp>
      <p:sp>
        <p:nvSpPr>
          <p:cNvPr id="21" name="Chevron 20"/>
          <p:cNvSpPr/>
          <p:nvPr/>
        </p:nvSpPr>
        <p:spPr>
          <a:xfrm>
            <a:off x="8641080" y="2971800"/>
            <a:ext cx="457200" cy="228600"/>
          </a:xfrm>
          <a:prstGeom prst="chevron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3063240"/>
            <a:ext cx="1828800" cy="73152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FFA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227832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VirusTotal
IP publique</a:t>
            </a:r>
          </a:p>
        </p:txBody>
      </p:sp>
      <p:sp>
        <p:nvSpPr>
          <p:cNvPr id="24" name="Chevron 23"/>
          <p:cNvSpPr/>
          <p:nvPr/>
        </p:nvSpPr>
        <p:spPr>
          <a:xfrm>
            <a:off x="10058400" y="3886200"/>
            <a:ext cx="0" cy="365760"/>
          </a:xfrm>
          <a:prstGeom prst="chevron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4343400"/>
            <a:ext cx="1828800" cy="731520"/>
          </a:xfrm>
          <a:prstGeom prst="roundRect">
            <a:avLst/>
          </a:prstGeom>
          <a:solidFill>
            <a:srgbClr val="0D1F34"/>
          </a:solidFill>
          <a:ln w="19050">
            <a:solidFill>
              <a:srgbClr val="2FC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507992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Discord
Enrichi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0">
                <a:solidFill>
                  <a:srgbClr val="A6B7CA"/>
                </a:solidFill>
                <a:latin typeface="Aptos"/>
              </a:rPr>
              <a:t>Réseau lab observé : Splunk 192.168.56.104/24 • source d’attaque corrélée 192.168.56.102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03 • TÉLÉMÉTRIE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7132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Préparer Windows pour produire des preuves exploitables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Audit de connexion + suivi des processus + ingestion Splunk.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96" y="2011680"/>
            <a:ext cx="1381046" cy="1965960"/>
          </a:xfrm>
          <a:prstGeom prst="rect">
            <a:avLst/>
          </a:prstGeom>
        </p:spPr>
      </p:pic>
      <p:pic>
        <p:nvPicPr>
          <p:cNvPr id="8" name="Picture 7" descr="img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40" y="2011680"/>
            <a:ext cx="1840015" cy="1965960"/>
          </a:xfrm>
          <a:prstGeom prst="rect">
            <a:avLst/>
          </a:prstGeom>
        </p:spPr>
      </p:pic>
      <p:pic>
        <p:nvPicPr>
          <p:cNvPr id="9" name="Picture 8" descr="img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484412"/>
            <a:ext cx="3337560" cy="1020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1">
                <a:solidFill>
                  <a:srgbClr val="00BFFF"/>
                </a:solidFill>
                <a:latin typeface="Aptos"/>
              </a:rPr>
              <a:t>Audit des connexions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60520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1">
                <a:solidFill>
                  <a:srgbClr val="00BFFF"/>
                </a:solidFill>
                <a:latin typeface="Aptos"/>
              </a:rPr>
              <a:t>Lignes de commande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160520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1">
                <a:solidFill>
                  <a:srgbClr val="00BFFF"/>
                </a:solidFill>
                <a:latin typeface="Aptos"/>
              </a:rPr>
              <a:t>Validation EventCode 4688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Checkpoint : l’exécution de whoami.exe /priv est visible dans Splunk avant de passer au scénario d’attaque.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04 •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Brute Force SMB : générer le signal dans le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CrackMapExec produit des échecs d’authentification réseau sur le compte de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59841"/>
            <a:ext cx="5486400" cy="19669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965960"/>
            <a:ext cx="4983480" cy="11430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965960"/>
            <a:ext cx="45720" cy="114300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0312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5757"/>
                </a:solidFill>
                <a:latin typeface="Aptos"/>
              </a:rPr>
              <a:t>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514600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CrackMapExec SMB depuis Kali vers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291840"/>
            <a:ext cx="4983480" cy="11430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3291840"/>
            <a:ext cx="45720" cy="114300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2900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SIGNAL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840480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Event ID 4625 • Logon Type 3 • STATUS_LOGON_FAILURE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617720"/>
            <a:ext cx="4983480" cy="11430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4617720"/>
            <a:ext cx="45720" cy="114300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75488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RÉSULTAT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166359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Source 192.168.56.102 • compte hacker_test • 1 429 échecs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05 • DÉTECTION SPLUNK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7132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Investigation SPL : isoler le pic et transformer le signal en détection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La recherche temporelle montre une concentration nette des échecs SMB.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55" y="1965960"/>
            <a:ext cx="3958248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95160" y="1965960"/>
            <a:ext cx="4389120" cy="123444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965960"/>
            <a:ext cx="45720" cy="123444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103120"/>
            <a:ext cx="4069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979FF"/>
                </a:solidFill>
                <a:latin typeface="Aptos"/>
              </a:rPr>
              <a:t>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14600"/>
            <a:ext cx="406908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EventCode=4625 + adresse réseau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429000"/>
            <a:ext cx="4389120" cy="123444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3429000"/>
            <a:ext cx="45720" cy="123444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566160"/>
            <a:ext cx="4069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PIC OBSERVÉ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959352"/>
            <a:ext cx="406908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1 429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480560"/>
            <a:ext cx="4069080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6B7CA"/>
                </a:solidFill>
                <a:latin typeface="Aptos"/>
              </a:rPr>
              <a:t>1 429 événements autour de 02:46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892040"/>
            <a:ext cx="4389120" cy="914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4892040"/>
            <a:ext cx="45720" cy="91440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5029200"/>
            <a:ext cx="40690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SORTIE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440679"/>
            <a:ext cx="40690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Une recherche suffisamment précise pour alimenter l’alerte V2.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06 • ALERTE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SOC-4625-BruteForce-SMB-v2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Planifier la détection et éviter le bruit avant l’envoi au SOAR.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32" y="2011680"/>
            <a:ext cx="3325694" cy="2743200"/>
          </a:xfrm>
          <a:prstGeom prst="rect">
            <a:avLst/>
          </a:prstGeom>
        </p:spPr>
      </p:pic>
      <p:pic>
        <p:nvPicPr>
          <p:cNvPr id="8" name="Picture 7" descr="img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345538"/>
            <a:ext cx="2514600" cy="20754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2011680"/>
            <a:ext cx="256032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2011680"/>
            <a:ext cx="45720" cy="960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48840"/>
            <a:ext cx="22402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FRÉQUENCE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560320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Cron */1 * * * 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200400"/>
            <a:ext cx="256032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3200400"/>
            <a:ext cx="45720" cy="9601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337560"/>
            <a:ext cx="22402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979FF"/>
                </a:solidFill>
                <a:latin typeface="Aptos"/>
              </a:rPr>
              <a:t>FENÊTRE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749039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5 dernières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389120"/>
            <a:ext cx="256032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4389120"/>
            <a:ext cx="45720" cy="96012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526280"/>
            <a:ext cx="2240279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THROTTLING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937759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5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Déclenchement : nombre de résultats &gt; 0 → action Webhook vers Shuffle.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07 • SOAR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Shuffle : la logique conditionnelle du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Le même webhook prend deux décisions différentes selon la nature de l’IP.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59663"/>
            <a:ext cx="4754880" cy="18758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874519"/>
            <a:ext cx="2743200" cy="123444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1874519"/>
            <a:ext cx="45720" cy="123444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011679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23160"/>
            <a:ext cx="242316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source_ip startswith 192.168. → Discord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383280"/>
            <a:ext cx="2743200" cy="123444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383280"/>
            <a:ext cx="45720" cy="123444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520440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31920"/>
            <a:ext cx="242316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IP publique → VirusTotal v3 → Discord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3327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00BFFF"/>
                </a:solidFill>
                <a:latin typeface="Aptos"/>
              </a:rPr>
              <a:t>Payload exploité : search_name • source_ip • 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08 •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Branche IP publique : enrichissement VirusTotal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Test contrôlé avec 8.8.8.8 pour valider la branche FALSE.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12935"/>
            <a:ext cx="4114800" cy="1820648"/>
          </a:xfrm>
          <a:prstGeom prst="rect">
            <a:avLst/>
          </a:prstGeom>
        </p:spPr>
      </p:pic>
      <p:pic>
        <p:nvPicPr>
          <p:cNvPr id="9" name="Picture 8" descr="img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420789"/>
            <a:ext cx="2926080" cy="16049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4800600"/>
            <a:ext cx="310896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800600"/>
            <a:ext cx="45720" cy="96012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2788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Shuffle FINISHED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800600"/>
            <a:ext cx="310896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00600"/>
            <a:ext cx="45720" cy="96012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93776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VIRUSTOTAL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349240"/>
            <a:ext cx="2788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HTTP 200 • Harmless 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800600"/>
            <a:ext cx="310896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800600"/>
            <a:ext cx="45720" cy="960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93776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DISCORD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49240"/>
            <a:ext cx="2788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Notification enrichie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09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317" y="1965960"/>
            <a:ext cx="1884004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09 •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Branche IP privée : routage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Le SOAR évite volontairement VirusTotal pour l’adresse interne du laboratoire.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7410"/>
            <a:ext cx="4251960" cy="1917418"/>
          </a:xfrm>
          <a:prstGeom prst="rect">
            <a:avLst/>
          </a:prstGeom>
        </p:spPr>
      </p:pic>
      <p:pic>
        <p:nvPicPr>
          <p:cNvPr id="8" name="Picture 7" descr="img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353931"/>
            <a:ext cx="2514600" cy="1784377"/>
          </a:xfrm>
          <a:prstGeom prst="rect">
            <a:avLst/>
          </a:prstGeom>
        </p:spPr>
      </p:pic>
      <p:pic>
        <p:nvPicPr>
          <p:cNvPr id="9" name="Picture 8" descr="img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390086"/>
            <a:ext cx="3246120" cy="17120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4846320"/>
            <a:ext cx="3108960" cy="914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45720" cy="9144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979FF"/>
                </a:solidFill>
                <a:latin typeface="Aptos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59"/>
            <a:ext cx="2788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192.168.56.102 • count 1429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846320"/>
            <a:ext cx="3108960" cy="914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4846320"/>
            <a:ext cx="45720" cy="91440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98348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VIRUSTOTAL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394959"/>
            <a:ext cx="2788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SKIPPED = comportement attendu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846320"/>
            <a:ext cx="3108960" cy="914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846320"/>
            <a:ext cx="45720" cy="9144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983480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DISCORD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94959"/>
            <a:ext cx="2788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Notification directe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10 • VISIBILITÉ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Dashboard SOC : rendre l’incident lisible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La détection et l’automatisation se terminent par une vue analyste exploitable.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0237"/>
            <a:ext cx="6629400" cy="33433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874519"/>
            <a:ext cx="361188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874519"/>
            <a:ext cx="45720" cy="9601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011679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TOTAL 4625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2404872"/>
            <a:ext cx="32918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1 916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907792"/>
            <a:ext cx="329184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1 916 événements sur le dashboard final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154680"/>
            <a:ext cx="361188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3154680"/>
            <a:ext cx="45720" cy="9601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3291840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979FF"/>
                </a:solidFill>
                <a:latin typeface="Aptos"/>
              </a:rPr>
              <a:t>VUES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703320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Tendance temporelle • top IP • comptes ciblés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434840"/>
            <a:ext cx="3611880" cy="96012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434840"/>
            <a:ext cx="45720" cy="96012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4572000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OBJECTIF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4983479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Passer du log brut à une situation compréhensible par l’analyste.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0BFFF"/>
                </a:solidFill>
                <a:latin typeface="Aptos"/>
              </a:rPr>
              <a:t>11 • 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Ce que le projet démontre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07592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0">
                <a:solidFill>
                  <a:srgbClr val="A6B7CA"/>
                </a:solidFill>
                <a:latin typeface="Aptos"/>
              </a:rPr>
              <a:t>Un mini pipeline Blue Team reproductible, documenté et présentable.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64792"/>
            <a:ext cx="105156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3200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45720" cy="32004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00BFFF"/>
                </a:solidFill>
                <a:latin typeface="Aptos"/>
              </a:rPr>
              <a:t>COMPÉTENCES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14600"/>
            <a:ext cx="3108960" cy="2514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• Windows Event Logs
• SPL / Splunk
• Détection SIEM
• Webhooks
• SOAR / logique conditionnelle
• Enrichissement IOC
• Documentation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65960"/>
            <a:ext cx="3429000" cy="3200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65960"/>
            <a:ext cx="45720" cy="3200400"/>
          </a:xfrm>
          <a:prstGeom prst="rect">
            <a:avLst/>
          </a:prstGeom>
          <a:solidFill>
            <a:srgbClr val="2FC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0312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FC480"/>
                </a:solidFill>
                <a:latin typeface="Aptos"/>
              </a:rPr>
              <a:t>BONNES PRATIQUES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14600"/>
            <a:ext cx="3108960" cy="2514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• Lab isolé
• Throttling des alertes
• Bypass des IP privées
• Secrets hors GitHub
• Validation par branches
• Checkpoints de reconstruction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965960"/>
            <a:ext cx="3429000" cy="3200400"/>
          </a:xfrm>
          <a:prstGeom prst="roundRect">
            <a:avLst/>
          </a:prstGeom>
          <a:solidFill>
            <a:srgbClr val="0D1F34"/>
          </a:solidFill>
          <a:ln>
            <a:solidFill>
              <a:srgbClr val="2C4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965960"/>
            <a:ext cx="45720" cy="3200400"/>
          </a:xfrm>
          <a:prstGeom prst="rect">
            <a:avLst/>
          </a:prstGeom>
          <a:solidFill>
            <a:srgbClr val="FFA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103120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FA042"/>
                </a:solidFill>
                <a:latin typeface="Aptos"/>
              </a:rPr>
              <a:t>LIMITES /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514600"/>
            <a:ext cx="3108960" cy="2514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A6B7CA"/>
                </a:solidFill>
                <a:latin typeface="Aptos"/>
              </a:rPr>
              <a:t>• Refaire le lab depuis le guide
• Compléter les paramètres Forwarder
• Ajouter davantage de scénarios
• Mesurer MTTD / FP sur plusieurs campagnes
• Versionner les évolutions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Livrables : rapport technique PDF • guide autonome • dépôt GitHub • présentation finale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2800" b="1">
                <a:solidFill>
                  <a:srgbClr val="F5F8FC"/>
                </a:solidFill>
                <a:latin typeface="Aptos"/>
              </a:rPr>
              <a:t>DE LA DÉTECTION SIEM
À L’AUTOMATISATION DE LA RÉPONSE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996696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500" b="1">
                <a:solidFill>
                  <a:srgbClr val="00BFFF"/>
                </a:solidFill>
                <a:latin typeface="Aptos"/>
              </a:rPr>
              <a:t>Windows 4625  →  Splunk  →  Alerte V2  →  Shuffle  →  VirusTotal / Discord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600" b="0">
                <a:solidFill>
                  <a:srgbClr val="A6B7CA"/>
                </a:solidFill>
                <a:latin typeface="Aptos"/>
              </a:rPr>
              <a:t>Projet SOC / SOAR — Brute Force SMB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00600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Toualy ZUNON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500" b="1">
                <a:solidFill>
                  <a:srgbClr val="2FC480"/>
                </a:solidFill>
                <a:latin typeface="Aptos"/>
              </a:rPr>
              <a:t>Merci — 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37960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6B7CA"/>
                </a:solidFill>
                <a:latin typeface="Aptos"/>
              </a:rPr>
              <a:t>SOC / SOAR • Brute Force SMB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900" b="1">
                <a:solidFill>
                  <a:srgbClr val="00B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